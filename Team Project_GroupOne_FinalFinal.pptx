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68C49C6.xml" ContentType="application/vnd.ms-powerpoint.comments+xml"/>
  <Override PartName="/ppt/comments/modernComment_10E_D564CAFA.xml" ContentType="application/vnd.ms-powerpoint.comments+xml"/>
  <Override PartName="/ppt/comments/modernComment_10D_C4C766ED.xml" ContentType="application/vnd.ms-powerpoint.comments+xml"/>
  <Override PartName="/ppt/comments/modernComment_105_A6DDF996.xml" ContentType="application/vnd.ms-powerpoint.comments+xml"/>
  <Override PartName="/ppt/comments/modernComment_103_A5BD6703.xml" ContentType="application/vnd.ms-powerpoint.comments+xml"/>
  <Override PartName="/ppt/comments/modernComment_104_2C773D64.xml" ContentType="application/vnd.ms-powerpoint.comments+xml"/>
  <Override PartName="/ppt/comments/modernComment_106_4F15B00D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7_6E87C68A.xml" ContentType="application/vnd.ms-powerpoint.comments+xml"/>
  <Override PartName="/ppt/comments/modernComment_108_DD70F101.xml" ContentType="application/vnd.ms-powerpoint.comments+xml"/>
  <Override PartName="/ppt/comments/modernComment_10A_4B7B2E5D.xml" ContentType="application/vnd.ms-powerpoint.comments+xml"/>
  <Override PartName="/ppt/comments/modernComment_109_6E4D01B9.xml" ContentType="application/vnd.ms-powerpoint.comments+xml"/>
  <Override PartName="/ppt/comments/modernComment_10F_D2205D28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0" r:id="rId3"/>
    <p:sldId id="269" r:id="rId4"/>
    <p:sldId id="261" r:id="rId5"/>
    <p:sldId id="259" r:id="rId6"/>
    <p:sldId id="260" r:id="rId7"/>
    <p:sldId id="262" r:id="rId8"/>
    <p:sldId id="263" r:id="rId9"/>
    <p:sldId id="264" r:id="rId10"/>
    <p:sldId id="266" r:id="rId11"/>
    <p:sldId id="265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1134F6F-3C68-21D7-2317-DE0CAC32E298}" name="Ali Karimzadeh Bangi" initials="AB" userId="S::101651258@georgebrown.ca::4f1558b3-4eb6-4058-a24b-33cb09c462a4" providerId="AD"/>
  <p188:author id="{6035A39C-C071-47E3-1237-E3B9F3124A4C}" name="Jordan Andres Palacios Espinel" initials="JE" userId="S::101639865@georgebrown.ca::5e8c008e-4e29-4465-9698-a88032aa8034" providerId="AD"/>
  <p188:author id="{F00FA6AD-4249-E416-AE3B-D022BA4D4E58}" name="Damir Akhunov" initials="DA" userId="S::101264541@georgebrown.ca::18f1212f-9020-4d36-b8b8-ae093ef8de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7015B3-730F-EF74-87D7-FE9B87B45BE5}" v="28" dt="2026-02-03T22:37:42.219"/>
    <p1510:client id="{27F77D0C-8878-FCD0-419C-98C64AF31F0D}" v="814" dt="2026-02-03T19:16:32.032"/>
    <p1510:client id="{422C4E75-2D25-68EF-F8E0-D166C3388F5A}" v="8" dt="2026-02-03T22:50:07.140"/>
    <p1510:client id="{5A56DF52-B600-146E-2BCB-5CE0055C4CB2}" v="52" dt="2026-02-03T02:32:11.622"/>
    <p1510:client id="{642E15E2-20B5-A87E-903E-03D27A89BD87}" v="15" dt="2026-02-02T14:24:21.223"/>
    <p1510:client id="{6C2D856A-41B4-B94E-B5BC-C395C4494F97}" v="326" dt="2026-02-02T22:07:53.726"/>
    <p1510:client id="{74DAB121-08AB-826A-0FD5-AE9D397655B1}" v="12" dt="2026-02-03T02:03:39.461"/>
    <p1510:client id="{9031A5B0-A225-C9B6-BF65-61B0DC381DB6}" v="216" dt="2026-02-03T21:55:13.990"/>
    <p1510:client id="{90781B10-4739-AE1C-82BD-F4C7D341E4C2}" v="6" dt="2026-02-03T02:58:12.487"/>
    <p1510:client id="{A0F05CA6-4BCD-8416-0E71-E4BD12201EB5}" v="121" dt="2026-02-03T22:27:50.955"/>
    <p1510:client id="{A14C0DCD-D5EB-CFE3-3782-E9A3AECF28D6}" v="5" dt="2026-02-03T21:39:56.911"/>
    <p1510:client id="{B6B7CA8C-EB9C-D2B6-00C1-D1E2D6F10AA1}" v="129" dt="2026-02-03T03:40:26.216"/>
    <p1510:client id="{C7F33488-02FD-F16E-EB7D-69071BD1413C}" v="107" dt="2026-02-03T21:23:50.391"/>
    <p1510:client id="{CAA9823C-D7BC-0865-C4B7-2290AD6F9CAC}" v="2" dt="2026-02-03T01:12:33.076"/>
    <p1510:client id="{D74E296F-BC95-D451-456E-6D38FC6DF2AA}" v="22" dt="2026-02-03T18:59:15.716"/>
    <p1510:client id="{ECEA3B93-C205-E93A-3511-552195838A2F}" v="96" dt="2026-02-03T22:36:25.287"/>
    <p1510:client id="{F493AB41-795D-C868-BD1B-69D77736407C}" v="19" dt="2026-02-03T01:50:29.444"/>
    <p1510:client id="{F6C92A21-A36D-3087-23A8-B99C0174E567}" v="147" dt="2026-02-03T22:25:35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modernComment_10A_4B7B2E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8C07C1-ADB9-46DE-AF14-B468B61B93F4}" authorId="{81134F6F-3C68-21D7-2317-DE0CAC32E298}" created="2026-02-03T18:31:10.710">
    <pc:sldMkLst xmlns:pc="http://schemas.microsoft.com/office/powerpoint/2013/main/command">
      <pc:docMk/>
      <pc:sldMk cId="1266363997" sldId="266"/>
    </pc:sldMkLst>
    <p188:replyLst>
      <p188:reply id="{800671B8-C990-43A4-986A-CB3A0370C0A8}" authorId="{81134F6F-3C68-21D7-2317-DE0CAC32E298}" created="2026-02-03T18:33:47.203">
        <p188:txBody>
          <a:bodyPr/>
          <a:lstStyle/>
          <a:p>
            <a:r>
              <a:rPr lang="en-US"/>
              <a:t>Talking points for Lalit:
Simpler models delivered better recall with fewer distractions​
Streamlined features, stronger results</a:t>
            </a:r>
          </a:p>
        </p188:txBody>
      </p188:reply>
    </p188:replyLst>
    <p188:txBody>
      <a:bodyPr/>
      <a:lstStyle/>
      <a:p>
        <a:r>
          <a:rPr lang="en-US"/>
          <a:t>Lalit' slice</a:t>
        </a:r>
      </a:p>
    </p188:txBody>
  </p188:cm>
</p188:cmLst>
</file>

<file path=ppt/comments/modernComment_10D_C4C766E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ECF5F3D-CA5A-4419-91A6-73FF5B47B611}" authorId="{6035A39C-C071-47E3-1237-E3B9F3124A4C}" created="2026-02-03T01:12:06.357">
    <pc:sldMkLst xmlns:pc="http://schemas.microsoft.com/office/powerpoint/2013/main/command">
      <pc:docMk/>
      <pc:sldMk cId="3478426891" sldId="258"/>
    </pc:sldMkLst>
    <p188:txBody>
      <a:bodyPr/>
      <a:lstStyle/>
      <a:p>
        <a:r>
          <a:rPr lang="en-US"/>
          <a:t>Andy's slice</a:t>
        </a:r>
      </a:p>
    </p188:txBody>
  </p188:cm>
</p188:cmLst>
</file>

<file path=ppt/comments/modernComment_10E_D564CA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98539C-4F2A-45CF-AD18-4C48B0356ADB}" authorId="{6035A39C-C071-47E3-1237-E3B9F3124A4C}" created="2026-02-03T01:11:48.670">
    <pc:sldMkLst xmlns:pc="http://schemas.microsoft.com/office/powerpoint/2013/main/command">
      <pc:docMk/>
      <pc:sldMk cId="3229533247" sldId="257"/>
    </pc:sldMkLst>
    <p188:txBody>
      <a:bodyPr/>
      <a:lstStyle/>
      <a:p>
        <a:r>
          <a:rPr lang="en-US"/>
          <a:t>Andy's slice</a:t>
        </a:r>
      </a:p>
    </p188:txBody>
  </p188:cm>
</p188:cmLst>
</file>

<file path=ppt/comments/modernComment_10F_D2205D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32A637-AE89-4A6D-8EB1-53A7768C130E}" authorId="{6035A39C-C071-47E3-1237-E3B9F3124A4C}" created="2026-02-03T01:11:58.888">
    <pc:sldMkLst xmlns:pc="http://schemas.microsoft.com/office/powerpoint/2013/main/command">
      <pc:docMk/>
      <pc:sldMk cId="109857222" sldId="256"/>
    </pc:sldMkLst>
    <p188:txBody>
      <a:bodyPr/>
      <a:lstStyle/>
      <a:p>
        <a:r>
          <a:rPr lang="en-US"/>
          <a:t>Andy's slice</a:t>
        </a:r>
      </a:p>
    </p188:txBody>
  </p188:cm>
</p188:cmLst>
</file>

<file path=ppt/comments/modernComment_100_68C49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936C56-DFEA-493D-90F2-E79CD45747E9}" authorId="{6035A39C-C071-47E3-1237-E3B9F3124A4C}" created="2026-02-03T01:11:58.888">
    <pc:sldMkLst xmlns:pc="http://schemas.microsoft.com/office/powerpoint/2013/main/command">
      <pc:docMk/>
      <pc:sldMk cId="109857222" sldId="256"/>
    </pc:sldMkLst>
    <p188:txBody>
      <a:bodyPr/>
      <a:lstStyle/>
      <a:p>
        <a:r>
          <a:rPr lang="en-US"/>
          <a:t>Andy's slice</a:t>
        </a:r>
      </a:p>
    </p188:txBody>
  </p188:cm>
</p188:cmLst>
</file>

<file path=ppt/comments/modernComment_103_A5BD67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651EDC-18A1-4690-87C1-A8FE646CEB4A}" authorId="{6035A39C-C071-47E3-1237-E3B9F3124A4C}" created="2026-02-03T01:13:50.842">
    <pc:sldMkLst xmlns:pc="http://schemas.microsoft.com/office/powerpoint/2013/main/command">
      <pc:docMk/>
      <pc:sldMk cId="2780653315" sldId="259"/>
    </pc:sldMkLst>
    <p188:txBody>
      <a:bodyPr/>
      <a:lstStyle/>
      <a:p>
        <a:r>
          <a:rPr lang="en-US"/>
          <a:t>Damir's Slice</a:t>
        </a:r>
      </a:p>
    </p188:txBody>
  </p188:cm>
</p188:cmLst>
</file>

<file path=ppt/comments/modernComment_104_2C773D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D7A258-D012-4A88-95C7-A490BF3D6948}" authorId="{6035A39C-C071-47E3-1237-E3B9F3124A4C}" created="2026-02-03T01:15:17.687">
    <pc:sldMkLst xmlns:pc="http://schemas.microsoft.com/office/powerpoint/2013/main/command">
      <pc:docMk/>
      <pc:sldMk cId="746012004" sldId="260"/>
    </pc:sldMkLst>
    <p188:txBody>
      <a:bodyPr/>
      <a:lstStyle/>
      <a:p>
        <a:r>
          <a:rPr lang="en-US"/>
          <a:t>Damir's slice</a:t>
        </a:r>
      </a:p>
    </p188:txBody>
  </p188:cm>
</p188:cmLst>
</file>

<file path=ppt/comments/modernComment_105_A6DDF99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BFE42B-35A2-4137-9FF8-7E6673461429}" authorId="{6035A39C-C071-47E3-1237-E3B9F3124A4C}" created="2026-02-03T01:13:29.530">
    <pc:sldMkLst xmlns:pc="http://schemas.microsoft.com/office/powerpoint/2013/main/command">
      <pc:docMk/>
      <pc:sldMk cId="2799565206" sldId="261"/>
    </pc:sldMkLst>
    <p188:txBody>
      <a:bodyPr/>
      <a:lstStyle/>
      <a:p>
        <a:r>
          <a:rPr lang="en-US"/>
          <a:t>Iva's slice</a:t>
        </a:r>
      </a:p>
    </p188:txBody>
  </p188:cm>
</p188:cmLst>
</file>

<file path=ppt/comments/modernComment_106_4F15B0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FACFB3-F077-4205-962D-9829898B5621}" authorId="{6035A39C-C071-47E3-1237-E3B9F3124A4C}" created="2026-02-03T01:15:58.531">
    <pc:sldMkLst xmlns:pc="http://schemas.microsoft.com/office/powerpoint/2013/main/command">
      <pc:docMk/>
      <pc:sldMk cId="1326821389" sldId="262"/>
    </pc:sldMkLst>
    <p188:txBody>
      <a:bodyPr/>
      <a:lstStyle/>
      <a:p>
        <a:r>
          <a:rPr lang="en-US"/>
          <a:t>Varsha's slice</a:t>
        </a:r>
      </a:p>
    </p188:txBody>
  </p188:cm>
</p188:cmLst>
</file>

<file path=ppt/comments/modernComment_107_6E87C6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ACAA3DE-1D9F-41DC-9BD0-F098A084AEF5}" authorId="{6035A39C-C071-47E3-1237-E3B9F3124A4C}" created="2026-02-03T01:19:21.360">
    <pc:sldMkLst xmlns:pc="http://schemas.microsoft.com/office/powerpoint/2013/main/command">
      <pc:docMk/>
      <pc:sldMk cId="1854391946" sldId="263"/>
    </pc:sldMkLst>
    <p188:txBody>
      <a:bodyPr/>
      <a:lstStyle/>
      <a:p>
        <a:r>
          <a:rPr lang="en-US"/>
          <a:t>Jordan's slice</a:t>
        </a:r>
      </a:p>
    </p188:txBody>
  </p188:cm>
</p188:cmLst>
</file>

<file path=ppt/comments/modernComment_108_DD70F1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B416C7-ECCD-41D5-A16E-86E6E5DBAEFD}" authorId="{6035A39C-C071-47E3-1237-E3B9F3124A4C}" created="2026-02-03T01:22:44.251">
    <pc:sldMkLst xmlns:pc="http://schemas.microsoft.com/office/powerpoint/2013/main/command">
      <pc:docMk/>
      <pc:sldMk cId="3715166465" sldId="264"/>
    </pc:sldMkLst>
    <p188:txBody>
      <a:bodyPr/>
      <a:lstStyle/>
      <a:p>
        <a:r>
          <a:rPr lang="en-US"/>
          <a:t>Aparna's slice</a:t>
        </a:r>
      </a:p>
    </p188:txBody>
  </p188:cm>
</p188:cmLst>
</file>

<file path=ppt/comments/modernComment_109_6E4D01B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692ED7-5BE9-4F97-903E-FF47EA150B9E}" authorId="{81134F6F-3C68-21D7-2317-DE0CAC32E298}" created="2026-02-03T18:31:46.260">
    <pc:sldMkLst xmlns:pc="http://schemas.microsoft.com/office/powerpoint/2013/main/command">
      <pc:docMk/>
      <pc:sldMk cId="1850540473" sldId="265"/>
    </pc:sldMkLst>
    <p188:txBody>
      <a:bodyPr/>
      <a:lstStyle/>
      <a:p>
        <a:r>
          <a:rPr lang="en-US"/>
          <a:t>Ali's Slice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7D8563-B966-47BE-BC50-3E1F3FFCE17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CF142A-FF7C-42AC-A641-F312F0043E19}">
      <dgm:prSet/>
      <dgm:spPr/>
      <dgm:t>
        <a:bodyPr/>
        <a:lstStyle/>
        <a:p>
          <a:r>
            <a:rPr lang="en-US"/>
            <a:t>Which one Predicts Best:</a:t>
          </a:r>
        </a:p>
      </dgm:t>
    </dgm:pt>
    <dgm:pt modelId="{83A1F084-23FB-4BF2-BFA3-99FB19D16051}" type="parTrans" cxnId="{7118E9F8-450C-45DF-B77D-42A2E8B4698B}">
      <dgm:prSet/>
      <dgm:spPr/>
      <dgm:t>
        <a:bodyPr/>
        <a:lstStyle/>
        <a:p>
          <a:endParaRPr lang="en-US"/>
        </a:p>
      </dgm:t>
    </dgm:pt>
    <dgm:pt modelId="{605324AC-17F0-46E7-B7E5-4FA5D7F2D453}" type="sibTrans" cxnId="{7118E9F8-450C-45DF-B77D-42A2E8B4698B}">
      <dgm:prSet/>
      <dgm:spPr/>
      <dgm:t>
        <a:bodyPr/>
        <a:lstStyle/>
        <a:p>
          <a:endParaRPr lang="en-US"/>
        </a:p>
      </dgm:t>
    </dgm:pt>
    <dgm:pt modelId="{93209815-3B59-4136-B4C7-87D747B57F5F}">
      <dgm:prSet/>
      <dgm:spPr/>
      <dgm:t>
        <a:bodyPr/>
        <a:lstStyle/>
        <a:p>
          <a:r>
            <a:rPr lang="en-US"/>
            <a:t>Logistic Regression</a:t>
          </a:r>
        </a:p>
      </dgm:t>
    </dgm:pt>
    <dgm:pt modelId="{006A658A-3FF3-436C-AA91-C1BE9B6FBEC3}" type="parTrans" cxnId="{3F98EAB2-CB17-40B9-8EE2-CC8EB55AA002}">
      <dgm:prSet/>
      <dgm:spPr/>
      <dgm:t>
        <a:bodyPr/>
        <a:lstStyle/>
        <a:p>
          <a:endParaRPr lang="en-US"/>
        </a:p>
      </dgm:t>
    </dgm:pt>
    <dgm:pt modelId="{5D2D8EC3-2F6D-4078-B7A2-5C3058510590}" type="sibTrans" cxnId="{3F98EAB2-CB17-40B9-8EE2-CC8EB55AA002}">
      <dgm:prSet/>
      <dgm:spPr/>
      <dgm:t>
        <a:bodyPr/>
        <a:lstStyle/>
        <a:p>
          <a:endParaRPr lang="en-US"/>
        </a:p>
      </dgm:t>
    </dgm:pt>
    <dgm:pt modelId="{8D704627-63EE-4BEE-AF6D-BEFFBD677D83}">
      <dgm:prSet/>
      <dgm:spPr/>
      <dgm:t>
        <a:bodyPr/>
        <a:lstStyle/>
        <a:p>
          <a:r>
            <a:rPr lang="en-US"/>
            <a:t>Decision Tree</a:t>
          </a:r>
        </a:p>
      </dgm:t>
    </dgm:pt>
    <dgm:pt modelId="{6861E19E-87CA-403D-90CA-F7A8CE2FEF30}" type="parTrans" cxnId="{96B0EC3C-A598-4F0B-86A9-F75D9AD46E60}">
      <dgm:prSet/>
      <dgm:spPr/>
      <dgm:t>
        <a:bodyPr/>
        <a:lstStyle/>
        <a:p>
          <a:endParaRPr lang="en-US"/>
        </a:p>
      </dgm:t>
    </dgm:pt>
    <dgm:pt modelId="{221BD336-050C-4CC7-BC5D-F8BDDAAF983A}" type="sibTrans" cxnId="{96B0EC3C-A598-4F0B-86A9-F75D9AD46E60}">
      <dgm:prSet/>
      <dgm:spPr/>
      <dgm:t>
        <a:bodyPr/>
        <a:lstStyle/>
        <a:p>
          <a:endParaRPr lang="en-US"/>
        </a:p>
      </dgm:t>
    </dgm:pt>
    <dgm:pt modelId="{298CD742-A2FD-48B9-BB4A-37927BC4B84D}">
      <dgm:prSet/>
      <dgm:spPr/>
      <dgm:t>
        <a:bodyPr/>
        <a:lstStyle/>
        <a:p>
          <a:r>
            <a:rPr lang="en-US"/>
            <a:t>Random Forest</a:t>
          </a:r>
        </a:p>
      </dgm:t>
    </dgm:pt>
    <dgm:pt modelId="{7A86BC24-1856-46E8-9343-209001938E45}" type="parTrans" cxnId="{C58D9BA3-38A0-4DD2-B8E5-E4257BFE4D2F}">
      <dgm:prSet/>
      <dgm:spPr/>
      <dgm:t>
        <a:bodyPr/>
        <a:lstStyle/>
        <a:p>
          <a:endParaRPr lang="en-US"/>
        </a:p>
      </dgm:t>
    </dgm:pt>
    <dgm:pt modelId="{3B51F1AC-7B27-4480-9982-AD4D3461EAB1}" type="sibTrans" cxnId="{C58D9BA3-38A0-4DD2-B8E5-E4257BFE4D2F}">
      <dgm:prSet/>
      <dgm:spPr/>
      <dgm:t>
        <a:bodyPr/>
        <a:lstStyle/>
        <a:p>
          <a:endParaRPr lang="en-US"/>
        </a:p>
      </dgm:t>
    </dgm:pt>
    <dgm:pt modelId="{13414DE1-4CD8-4D4E-9505-3A5D32BF7CBA}">
      <dgm:prSet/>
      <dgm:spPr/>
      <dgm:t>
        <a:bodyPr/>
        <a:lstStyle/>
        <a:p>
          <a:r>
            <a:rPr lang="en-US"/>
            <a:t>Stochastic Gradient Descent </a:t>
          </a:r>
        </a:p>
      </dgm:t>
    </dgm:pt>
    <dgm:pt modelId="{E5FBFD66-0ACD-4E82-BE31-492AF8209ADA}" type="parTrans" cxnId="{C629668D-CB97-4B8B-B060-CA298A1B715D}">
      <dgm:prSet/>
      <dgm:spPr/>
      <dgm:t>
        <a:bodyPr/>
        <a:lstStyle/>
        <a:p>
          <a:endParaRPr lang="en-US"/>
        </a:p>
      </dgm:t>
    </dgm:pt>
    <dgm:pt modelId="{18425744-8C2B-4006-8209-1EEC3DC954AD}" type="sibTrans" cxnId="{C629668D-CB97-4B8B-B060-CA298A1B715D}">
      <dgm:prSet/>
      <dgm:spPr/>
      <dgm:t>
        <a:bodyPr/>
        <a:lstStyle/>
        <a:p>
          <a:endParaRPr lang="en-US"/>
        </a:p>
      </dgm:t>
    </dgm:pt>
    <dgm:pt modelId="{3B0BA571-BCD7-44E2-9EF5-898B3C93EF8C}">
      <dgm:prSet/>
      <dgm:spPr/>
      <dgm:t>
        <a:bodyPr/>
        <a:lstStyle/>
        <a:p>
          <a:r>
            <a:rPr lang="en-US"/>
            <a:t>Support Vector Machine</a:t>
          </a:r>
        </a:p>
      </dgm:t>
    </dgm:pt>
    <dgm:pt modelId="{4F8AD85F-CA73-41EA-8173-424C4C008FAB}" type="parTrans" cxnId="{70DE272F-3B9C-426F-8571-C4C09598E6D5}">
      <dgm:prSet/>
      <dgm:spPr/>
      <dgm:t>
        <a:bodyPr/>
        <a:lstStyle/>
        <a:p>
          <a:endParaRPr lang="en-US"/>
        </a:p>
      </dgm:t>
    </dgm:pt>
    <dgm:pt modelId="{13FBD0E6-E78A-49A2-B5F0-45A6DCCB7D46}" type="sibTrans" cxnId="{70DE272F-3B9C-426F-8571-C4C09598E6D5}">
      <dgm:prSet/>
      <dgm:spPr/>
      <dgm:t>
        <a:bodyPr/>
        <a:lstStyle/>
        <a:p>
          <a:endParaRPr lang="en-US"/>
        </a:p>
      </dgm:t>
    </dgm:pt>
    <dgm:pt modelId="{7E4D347D-E10E-4A71-BE7B-1E6B06042F14}" type="pres">
      <dgm:prSet presAssocID="{357D8563-B966-47BE-BC50-3E1F3FFCE178}" presName="linear" presStyleCnt="0">
        <dgm:presLayoutVars>
          <dgm:animLvl val="lvl"/>
          <dgm:resizeHandles val="exact"/>
        </dgm:presLayoutVars>
      </dgm:prSet>
      <dgm:spPr/>
    </dgm:pt>
    <dgm:pt modelId="{AD05DD29-EB5F-4496-BB2A-11770681BE9D}" type="pres">
      <dgm:prSet presAssocID="{33CF142A-FF7C-42AC-A641-F312F0043E1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0313ACC-29FC-43F3-B13F-4AAF4DE69C05}" type="pres">
      <dgm:prSet presAssocID="{605324AC-17F0-46E7-B7E5-4FA5D7F2D453}" presName="spacer" presStyleCnt="0"/>
      <dgm:spPr/>
    </dgm:pt>
    <dgm:pt modelId="{A968FE5A-7C53-41D7-A859-E1E27C79DF9F}" type="pres">
      <dgm:prSet presAssocID="{93209815-3B59-4136-B4C7-87D747B57F5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34513FD-9B18-4671-9591-9644EA041D2F}" type="pres">
      <dgm:prSet presAssocID="{5D2D8EC3-2F6D-4078-B7A2-5C3058510590}" presName="spacer" presStyleCnt="0"/>
      <dgm:spPr/>
    </dgm:pt>
    <dgm:pt modelId="{BB5BC81D-408E-43A6-A2A5-74D80FB9A7F0}" type="pres">
      <dgm:prSet presAssocID="{8D704627-63EE-4BEE-AF6D-BEFFBD677D8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3FB3AEA-C732-47C9-915F-ED38C3E19170}" type="pres">
      <dgm:prSet presAssocID="{221BD336-050C-4CC7-BC5D-F8BDDAAF983A}" presName="spacer" presStyleCnt="0"/>
      <dgm:spPr/>
    </dgm:pt>
    <dgm:pt modelId="{1528EFBA-F70F-4565-830F-FF5EEA862542}" type="pres">
      <dgm:prSet presAssocID="{298CD742-A2FD-48B9-BB4A-37927BC4B84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1F0FF43-7A5A-400E-8C18-381754C8421E}" type="pres">
      <dgm:prSet presAssocID="{3B51F1AC-7B27-4480-9982-AD4D3461EAB1}" presName="spacer" presStyleCnt="0"/>
      <dgm:spPr/>
    </dgm:pt>
    <dgm:pt modelId="{9C12D2A9-9110-4773-9B1A-97B7721263A8}" type="pres">
      <dgm:prSet presAssocID="{13414DE1-4CD8-4D4E-9505-3A5D32BF7CB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71226EE-EF3F-42CE-A2EE-E1EEF2135872}" type="pres">
      <dgm:prSet presAssocID="{18425744-8C2B-4006-8209-1EEC3DC954AD}" presName="spacer" presStyleCnt="0"/>
      <dgm:spPr/>
    </dgm:pt>
    <dgm:pt modelId="{442DEB78-6521-40CC-BA65-058673461A95}" type="pres">
      <dgm:prSet presAssocID="{3B0BA571-BCD7-44E2-9EF5-898B3C93EF8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228170A-399D-4C27-80B5-C936218B854A}" type="presOf" srcId="{3B0BA571-BCD7-44E2-9EF5-898B3C93EF8C}" destId="{442DEB78-6521-40CC-BA65-058673461A95}" srcOrd="0" destOrd="0" presId="urn:microsoft.com/office/officeart/2005/8/layout/vList2"/>
    <dgm:cxn modelId="{3DE3000F-2D24-4EE8-BAAB-8FBB386721DB}" type="presOf" srcId="{8D704627-63EE-4BEE-AF6D-BEFFBD677D83}" destId="{BB5BC81D-408E-43A6-A2A5-74D80FB9A7F0}" srcOrd="0" destOrd="0" presId="urn:microsoft.com/office/officeart/2005/8/layout/vList2"/>
    <dgm:cxn modelId="{DB535E11-4696-40B4-A43E-3ABFB74DAFCC}" type="presOf" srcId="{13414DE1-4CD8-4D4E-9505-3A5D32BF7CBA}" destId="{9C12D2A9-9110-4773-9B1A-97B7721263A8}" srcOrd="0" destOrd="0" presId="urn:microsoft.com/office/officeart/2005/8/layout/vList2"/>
    <dgm:cxn modelId="{2552DE19-E12F-4FD3-A9C6-C1F71D6E849A}" type="presOf" srcId="{357D8563-B966-47BE-BC50-3E1F3FFCE178}" destId="{7E4D347D-E10E-4A71-BE7B-1E6B06042F14}" srcOrd="0" destOrd="0" presId="urn:microsoft.com/office/officeart/2005/8/layout/vList2"/>
    <dgm:cxn modelId="{CDA1E020-D552-4F8E-AD46-E4E24F9F537F}" type="presOf" srcId="{298CD742-A2FD-48B9-BB4A-37927BC4B84D}" destId="{1528EFBA-F70F-4565-830F-FF5EEA862542}" srcOrd="0" destOrd="0" presId="urn:microsoft.com/office/officeart/2005/8/layout/vList2"/>
    <dgm:cxn modelId="{70DE272F-3B9C-426F-8571-C4C09598E6D5}" srcId="{357D8563-B966-47BE-BC50-3E1F3FFCE178}" destId="{3B0BA571-BCD7-44E2-9EF5-898B3C93EF8C}" srcOrd="5" destOrd="0" parTransId="{4F8AD85F-CA73-41EA-8173-424C4C008FAB}" sibTransId="{13FBD0E6-E78A-49A2-B5F0-45A6DCCB7D46}"/>
    <dgm:cxn modelId="{96B0EC3C-A598-4F0B-86A9-F75D9AD46E60}" srcId="{357D8563-B966-47BE-BC50-3E1F3FFCE178}" destId="{8D704627-63EE-4BEE-AF6D-BEFFBD677D83}" srcOrd="2" destOrd="0" parTransId="{6861E19E-87CA-403D-90CA-F7A8CE2FEF30}" sibTransId="{221BD336-050C-4CC7-BC5D-F8BDDAAF983A}"/>
    <dgm:cxn modelId="{CC3E9F53-4D88-497B-94AB-70D560A42C16}" type="presOf" srcId="{93209815-3B59-4136-B4C7-87D747B57F5F}" destId="{A968FE5A-7C53-41D7-A859-E1E27C79DF9F}" srcOrd="0" destOrd="0" presId="urn:microsoft.com/office/officeart/2005/8/layout/vList2"/>
    <dgm:cxn modelId="{8E51A77E-F2B0-4CA9-ADDE-6B85972EAD88}" type="presOf" srcId="{33CF142A-FF7C-42AC-A641-F312F0043E19}" destId="{AD05DD29-EB5F-4496-BB2A-11770681BE9D}" srcOrd="0" destOrd="0" presId="urn:microsoft.com/office/officeart/2005/8/layout/vList2"/>
    <dgm:cxn modelId="{C629668D-CB97-4B8B-B060-CA298A1B715D}" srcId="{357D8563-B966-47BE-BC50-3E1F3FFCE178}" destId="{13414DE1-4CD8-4D4E-9505-3A5D32BF7CBA}" srcOrd="4" destOrd="0" parTransId="{E5FBFD66-0ACD-4E82-BE31-492AF8209ADA}" sibTransId="{18425744-8C2B-4006-8209-1EEC3DC954AD}"/>
    <dgm:cxn modelId="{C58D9BA3-38A0-4DD2-B8E5-E4257BFE4D2F}" srcId="{357D8563-B966-47BE-BC50-3E1F3FFCE178}" destId="{298CD742-A2FD-48B9-BB4A-37927BC4B84D}" srcOrd="3" destOrd="0" parTransId="{7A86BC24-1856-46E8-9343-209001938E45}" sibTransId="{3B51F1AC-7B27-4480-9982-AD4D3461EAB1}"/>
    <dgm:cxn modelId="{3F98EAB2-CB17-40B9-8EE2-CC8EB55AA002}" srcId="{357D8563-B966-47BE-BC50-3E1F3FFCE178}" destId="{93209815-3B59-4136-B4C7-87D747B57F5F}" srcOrd="1" destOrd="0" parTransId="{006A658A-3FF3-436C-AA91-C1BE9B6FBEC3}" sibTransId="{5D2D8EC3-2F6D-4078-B7A2-5C3058510590}"/>
    <dgm:cxn modelId="{7118E9F8-450C-45DF-B77D-42A2E8B4698B}" srcId="{357D8563-B966-47BE-BC50-3E1F3FFCE178}" destId="{33CF142A-FF7C-42AC-A641-F312F0043E19}" srcOrd="0" destOrd="0" parTransId="{83A1F084-23FB-4BF2-BFA3-99FB19D16051}" sibTransId="{605324AC-17F0-46E7-B7E5-4FA5D7F2D453}"/>
    <dgm:cxn modelId="{6D0897FF-8618-4F49-99FB-17878845672C}" type="presParOf" srcId="{7E4D347D-E10E-4A71-BE7B-1E6B06042F14}" destId="{AD05DD29-EB5F-4496-BB2A-11770681BE9D}" srcOrd="0" destOrd="0" presId="urn:microsoft.com/office/officeart/2005/8/layout/vList2"/>
    <dgm:cxn modelId="{4A978DB6-286D-4748-8792-3CCB0E1135BA}" type="presParOf" srcId="{7E4D347D-E10E-4A71-BE7B-1E6B06042F14}" destId="{A0313ACC-29FC-43F3-B13F-4AAF4DE69C05}" srcOrd="1" destOrd="0" presId="urn:microsoft.com/office/officeart/2005/8/layout/vList2"/>
    <dgm:cxn modelId="{CD141E1D-8B47-4BBE-AC5F-48A4AC6C5D3B}" type="presParOf" srcId="{7E4D347D-E10E-4A71-BE7B-1E6B06042F14}" destId="{A968FE5A-7C53-41D7-A859-E1E27C79DF9F}" srcOrd="2" destOrd="0" presId="urn:microsoft.com/office/officeart/2005/8/layout/vList2"/>
    <dgm:cxn modelId="{1D6F412C-7D1F-4049-A0F4-2D7BA78523F0}" type="presParOf" srcId="{7E4D347D-E10E-4A71-BE7B-1E6B06042F14}" destId="{734513FD-9B18-4671-9591-9644EA041D2F}" srcOrd="3" destOrd="0" presId="urn:microsoft.com/office/officeart/2005/8/layout/vList2"/>
    <dgm:cxn modelId="{AF1D48F3-62A9-4BEF-A562-53EE446CE52E}" type="presParOf" srcId="{7E4D347D-E10E-4A71-BE7B-1E6B06042F14}" destId="{BB5BC81D-408E-43A6-A2A5-74D80FB9A7F0}" srcOrd="4" destOrd="0" presId="urn:microsoft.com/office/officeart/2005/8/layout/vList2"/>
    <dgm:cxn modelId="{58692271-01AD-4229-A163-FBB7C09CA025}" type="presParOf" srcId="{7E4D347D-E10E-4A71-BE7B-1E6B06042F14}" destId="{A3FB3AEA-C732-47C9-915F-ED38C3E19170}" srcOrd="5" destOrd="0" presId="urn:microsoft.com/office/officeart/2005/8/layout/vList2"/>
    <dgm:cxn modelId="{D990CA89-A3D8-45D2-9189-C5844C6B3861}" type="presParOf" srcId="{7E4D347D-E10E-4A71-BE7B-1E6B06042F14}" destId="{1528EFBA-F70F-4565-830F-FF5EEA862542}" srcOrd="6" destOrd="0" presId="urn:microsoft.com/office/officeart/2005/8/layout/vList2"/>
    <dgm:cxn modelId="{145ECE8F-6349-4523-AFEF-275A83D6A900}" type="presParOf" srcId="{7E4D347D-E10E-4A71-BE7B-1E6B06042F14}" destId="{21F0FF43-7A5A-400E-8C18-381754C8421E}" srcOrd="7" destOrd="0" presId="urn:microsoft.com/office/officeart/2005/8/layout/vList2"/>
    <dgm:cxn modelId="{D4F5E666-763A-4FFD-83AC-B4900CEC6D54}" type="presParOf" srcId="{7E4D347D-E10E-4A71-BE7B-1E6B06042F14}" destId="{9C12D2A9-9110-4773-9B1A-97B7721263A8}" srcOrd="8" destOrd="0" presId="urn:microsoft.com/office/officeart/2005/8/layout/vList2"/>
    <dgm:cxn modelId="{85188BA9-8A3B-4987-B5DF-B031EEC8F063}" type="presParOf" srcId="{7E4D347D-E10E-4A71-BE7B-1E6B06042F14}" destId="{E71226EE-EF3F-42CE-A2EE-E1EEF2135872}" srcOrd="9" destOrd="0" presId="urn:microsoft.com/office/officeart/2005/8/layout/vList2"/>
    <dgm:cxn modelId="{73510002-09B0-494C-BF33-A0843793008D}" type="presParOf" srcId="{7E4D347D-E10E-4A71-BE7B-1E6B06042F14}" destId="{442DEB78-6521-40CC-BA65-058673461A9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5DD29-EB5F-4496-BB2A-11770681BE9D}">
      <dsp:nvSpPr>
        <dsp:cNvPr id="0" name=""/>
        <dsp:cNvSpPr/>
      </dsp:nvSpPr>
      <dsp:spPr>
        <a:xfrm>
          <a:off x="0" y="32805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Which one Predicts Best:</a:t>
          </a:r>
        </a:p>
      </dsp:txBody>
      <dsp:txXfrm>
        <a:off x="29271" y="62076"/>
        <a:ext cx="4696338" cy="541083"/>
      </dsp:txXfrm>
    </dsp:sp>
    <dsp:sp modelId="{A968FE5A-7C53-41D7-A859-E1E27C79DF9F}">
      <dsp:nvSpPr>
        <dsp:cNvPr id="0" name=""/>
        <dsp:cNvSpPr/>
      </dsp:nvSpPr>
      <dsp:spPr>
        <a:xfrm>
          <a:off x="0" y="70443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Logistic Regression</a:t>
          </a:r>
        </a:p>
      </dsp:txBody>
      <dsp:txXfrm>
        <a:off x="29271" y="733701"/>
        <a:ext cx="4696338" cy="541083"/>
      </dsp:txXfrm>
    </dsp:sp>
    <dsp:sp modelId="{BB5BC81D-408E-43A6-A2A5-74D80FB9A7F0}">
      <dsp:nvSpPr>
        <dsp:cNvPr id="0" name=""/>
        <dsp:cNvSpPr/>
      </dsp:nvSpPr>
      <dsp:spPr>
        <a:xfrm>
          <a:off x="0" y="1376055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Decision Tree</a:t>
          </a:r>
        </a:p>
      </dsp:txBody>
      <dsp:txXfrm>
        <a:off x="29271" y="1405326"/>
        <a:ext cx="4696338" cy="541083"/>
      </dsp:txXfrm>
    </dsp:sp>
    <dsp:sp modelId="{1528EFBA-F70F-4565-830F-FF5EEA862542}">
      <dsp:nvSpPr>
        <dsp:cNvPr id="0" name=""/>
        <dsp:cNvSpPr/>
      </dsp:nvSpPr>
      <dsp:spPr>
        <a:xfrm>
          <a:off x="0" y="204768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Random Forest</a:t>
          </a:r>
        </a:p>
      </dsp:txBody>
      <dsp:txXfrm>
        <a:off x="29271" y="2076951"/>
        <a:ext cx="4696338" cy="541083"/>
      </dsp:txXfrm>
    </dsp:sp>
    <dsp:sp modelId="{9C12D2A9-9110-4773-9B1A-97B7721263A8}">
      <dsp:nvSpPr>
        <dsp:cNvPr id="0" name=""/>
        <dsp:cNvSpPr/>
      </dsp:nvSpPr>
      <dsp:spPr>
        <a:xfrm>
          <a:off x="0" y="2719305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Stochastic Gradient Descent </a:t>
          </a:r>
        </a:p>
      </dsp:txBody>
      <dsp:txXfrm>
        <a:off x="29271" y="2748576"/>
        <a:ext cx="4696338" cy="541083"/>
      </dsp:txXfrm>
    </dsp:sp>
    <dsp:sp modelId="{442DEB78-6521-40CC-BA65-058673461A95}">
      <dsp:nvSpPr>
        <dsp:cNvPr id="0" name=""/>
        <dsp:cNvSpPr/>
      </dsp:nvSpPr>
      <dsp:spPr>
        <a:xfrm>
          <a:off x="0" y="339093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Support Vector Machine</a:t>
          </a:r>
        </a:p>
      </dsp:txBody>
      <dsp:txXfrm>
        <a:off x="29271" y="3420201"/>
        <a:ext cx="4696338" cy="541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855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5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05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51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8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2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8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95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78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0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7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68C49C6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E_D564CAFA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D_C4C766ED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05_A6DDF9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3_A5BD670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microsoft.com/office/2018/10/relationships/comments" Target="../comments/modernComment_104_2C773D6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6_4F15B00D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6E87C68A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08_DD70F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4B7B2E5D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6E4D01B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F_D2205D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68316"/>
            <a:ext cx="9144000" cy="241321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Can We Predict Who Will Leave?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9481C-8C9F-46C6-FC74-E9F104B05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351" y="2043952"/>
            <a:ext cx="9872871" cy="40386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814F0D-D0D1-32E3-4405-5AD55DB19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1095550"/>
            <a:ext cx="9486900" cy="44521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D83091-168F-8C5A-4516-C7454AC3352E}"/>
              </a:ext>
            </a:extLst>
          </p:cNvPr>
          <p:cNvSpPr txBox="1"/>
          <p:nvPr/>
        </p:nvSpPr>
        <p:spPr>
          <a:xfrm>
            <a:off x="1277114" y="5707515"/>
            <a:ext cx="543296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20,000 Rows(Customer), 11 Columns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Target: churn (Yes/No) – Yes if customer has left</a:t>
            </a:r>
            <a:endParaRPr lang="en-US" sz="2000"/>
          </a:p>
          <a:p>
            <a:pPr algn="ctr"/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0F1DD-7440-0383-088A-DAFEE8BF52B3}"/>
              </a:ext>
            </a:extLst>
          </p:cNvPr>
          <p:cNvSpPr txBox="1"/>
          <p:nvPr/>
        </p:nvSpPr>
        <p:spPr>
          <a:xfrm>
            <a:off x="6769990" y="5707515"/>
            <a:ext cx="42432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9 Features/ 4 </a:t>
            </a:r>
            <a:r>
              <a:rPr lang="en-US" err="1"/>
              <a:t>numericals</a:t>
            </a:r>
            <a:r>
              <a:rPr lang="en-US"/>
              <a:t>/ 5 </a:t>
            </a:r>
            <a:r>
              <a:rPr lang="en-US" err="1"/>
              <a:t>Catergories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6FD8CAC-7F25-995C-860E-16EBEBC3775C}"/>
              </a:ext>
            </a:extLst>
          </p:cNvPr>
          <p:cNvSpPr txBox="1">
            <a:spLocks/>
          </p:cNvSpPr>
          <p:nvPr/>
        </p:nvSpPr>
        <p:spPr>
          <a:xfrm>
            <a:off x="1138855" y="426545"/>
            <a:ext cx="7647031" cy="5602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Key Features of the Dataset</a:t>
            </a:r>
          </a:p>
        </p:txBody>
      </p:sp>
    </p:spTree>
    <p:extLst>
      <p:ext uri="{BB962C8B-B14F-4D97-AF65-F5344CB8AC3E}">
        <p14:creationId xmlns:p14="http://schemas.microsoft.com/office/powerpoint/2010/main" val="35801525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C7F6A-CE7A-AFC2-330F-D4D1111F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950" y="498432"/>
            <a:ext cx="9875520" cy="560294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ea typeface="+mj-lt"/>
                <a:cs typeface="+mj-lt"/>
              </a:rPr>
              <a:t>Preliminary Data Insight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695DC-1CF7-B687-C0CC-DC5A8699B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8647" y="4229100"/>
            <a:ext cx="3243471" cy="4038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>
                <a:solidFill>
                  <a:schemeClr val="tx1"/>
                </a:solidFill>
              </a:rPr>
              <a:t>Key Features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>
                <a:solidFill>
                  <a:schemeClr val="tx1"/>
                </a:solidFill>
              </a:rPr>
              <a:t>The Target (Churn)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8B915-CDB5-47F3-CD5D-A9AB7DA1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89" y="1335952"/>
            <a:ext cx="4791745" cy="4186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ABB221-A6D4-6E81-FCFA-C37073C8CC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212"/>
          <a:stretch>
            <a:fillRect/>
          </a:stretch>
        </p:blipFill>
        <p:spPr>
          <a:xfrm>
            <a:off x="5746214" y="1315612"/>
            <a:ext cx="5780497" cy="41949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E767F5-0FC2-26DD-D5DF-E8926305917B}"/>
              </a:ext>
            </a:extLst>
          </p:cNvPr>
          <p:cNvSpPr txBox="1"/>
          <p:nvPr/>
        </p:nvSpPr>
        <p:spPr>
          <a:xfrm>
            <a:off x="665289" y="5770519"/>
            <a:ext cx="41760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/>
              <a:t>20,000 − 17,987 = 2,013 missing / </a:t>
            </a:r>
            <a:r>
              <a:rPr lang="en-GB" err="1"/>
              <a:t>NaN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376DBF-EAEA-5DAB-4711-779D5316DBFA}"/>
              </a:ext>
            </a:extLst>
          </p:cNvPr>
          <p:cNvSpPr txBox="1"/>
          <p:nvPr/>
        </p:nvSpPr>
        <p:spPr>
          <a:xfrm>
            <a:off x="5316448" y="5602069"/>
            <a:ext cx="621026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Average tenure≈ 36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monthly charges ≈ 70 USD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support calls ≈ 1.5 (low overall)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023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FCD9B9F-B3FA-405A-9934-F9E85C1D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44B58-C307-6C5B-BBBE-D4A0CA3D3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731" y="609600"/>
            <a:ext cx="3582416" cy="1356360"/>
          </a:xfrm>
        </p:spPr>
        <p:txBody>
          <a:bodyPr>
            <a:normAutofit/>
          </a:bodyPr>
          <a:lstStyle/>
          <a:p>
            <a:r>
              <a:rPr lang="en-US" sz="3200"/>
              <a:t>Exploring Feature Relationships 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BF32FF-171B-40C2-93FE-AA3BAE43D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39" y="243840"/>
            <a:ext cx="7327423" cy="6377939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240BB-6493-6CB6-E904-75B52961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731" y="2057400"/>
            <a:ext cx="3582416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Churn Distribution</a:t>
            </a:r>
          </a:p>
          <a:p>
            <a:r>
              <a:rPr lang="en-US" sz="1600"/>
              <a:t>Tenure vs Churn</a:t>
            </a:r>
          </a:p>
          <a:p>
            <a:r>
              <a:rPr lang="en-US" sz="1600"/>
              <a:t>Monthly Charges vs Churn</a:t>
            </a:r>
          </a:p>
          <a:p>
            <a:r>
              <a:rPr lang="en-US" sz="1600"/>
              <a:t>Contract Type vs Churn</a:t>
            </a:r>
          </a:p>
          <a:p>
            <a:endParaRPr lang="en-US" sz="1600"/>
          </a:p>
          <a:p>
            <a:endParaRPr lang="en-US" sz="16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1A6607-E864-41D6-8749-98EE1987A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1A056A-3429-470D-AFC8-97C1F8D83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0692" y="744223"/>
            <a:ext cx="3422042" cy="26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number of blue squares&#10;&#10;AI-generated content may be incorrect.">
            <a:extLst>
              <a:ext uri="{FF2B5EF4-FFF2-40B4-BE49-F238E27FC236}">
                <a16:creationId xmlns:a16="http://schemas.microsoft.com/office/drawing/2014/main" id="{3461DA21-75B0-13C2-C4C6-B312D880F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219" y="906656"/>
            <a:ext cx="2940988" cy="226456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0BEFB55-7176-4081-B76A-D32AFECCE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2561" y="744223"/>
            <a:ext cx="2761369" cy="26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35BB0-34A6-EDF9-6DB8-23A444551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179" y="1081071"/>
            <a:ext cx="2429302" cy="196166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DCAB5CB-1540-4DEE-976C-1BD5F6E3B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0692" y="3507057"/>
            <a:ext cx="2790855" cy="2633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9DF2201-0B91-D14C-FDA5-995F08439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733" y="3807783"/>
            <a:ext cx="2480365" cy="205870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4356B39-91B7-4E26-8359-29C41DD9BA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1267" y="3507057"/>
            <a:ext cx="3392663" cy="2633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hart with blue squares&#10;&#10;AI-generated content may be incorrect.">
            <a:extLst>
              <a:ext uri="{FF2B5EF4-FFF2-40B4-BE49-F238E27FC236}">
                <a16:creationId xmlns:a16="http://schemas.microsoft.com/office/drawing/2014/main" id="{A66D575B-5A32-820C-3907-54791C6CD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8326" y="3696511"/>
            <a:ext cx="2878545" cy="228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652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A2EA6A6-CD0C-4CFD-8EC2-AA44F9870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EC9AB-A498-82E5-783D-57698BF3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>
            <a:normAutofit/>
          </a:bodyPr>
          <a:lstStyle/>
          <a:p>
            <a:r>
              <a:rPr lang="en-US" sz="3200"/>
              <a:t>Preparing the Data</a:t>
            </a:r>
          </a:p>
        </p:txBody>
      </p:sp>
      <p:pic>
        <p:nvPicPr>
          <p:cNvPr id="4" name="Picture 3" descr="A graph with a bar and text&#10;&#10;AI-generated content may be incorrect.">
            <a:extLst>
              <a:ext uri="{FF2B5EF4-FFF2-40B4-BE49-F238E27FC236}">
                <a16:creationId xmlns:a16="http://schemas.microsoft.com/office/drawing/2014/main" id="{C5D84E9D-21BD-62A6-087A-31B833385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64" y="1750362"/>
            <a:ext cx="6045576" cy="33552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F9C8-E31E-F763-C1CB-5003C763A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8564" y="2057400"/>
            <a:ext cx="3912583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Checking for Missing Value</a:t>
            </a:r>
          </a:p>
          <a:p>
            <a:r>
              <a:rPr lang="en-US" sz="1600"/>
              <a:t>Dealing with Duplicates</a:t>
            </a:r>
          </a:p>
          <a:p>
            <a:r>
              <a:rPr lang="en-US" sz="1600"/>
              <a:t>Converting Categorical Features into Numerical ones</a:t>
            </a:r>
          </a:p>
          <a:p>
            <a:r>
              <a:rPr lang="en-US" sz="1600"/>
              <a:t>Detecting outliers </a:t>
            </a:r>
          </a:p>
          <a:p>
            <a:pPr marL="0" indent="0">
              <a:buNone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806533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3FE6F10-B3AD-4403-94CA-F51155286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64D6A39-A4F7-4B00-9F42-3BC67177D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246887"/>
            <a:ext cx="4397755" cy="6377939"/>
          </a:xfrm>
          <a:prstGeom prst="rect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553ADF-88A1-4645-B819-890CA3DF7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70284" y="4405863"/>
            <a:ext cx="2763075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B5D0D97D-7911-4A25-88E2-4D81FD4A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E53009-0F03-BF09-74A8-F6527566E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38" y="857675"/>
            <a:ext cx="3113366" cy="36228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3400" b="1" cap="all">
                <a:solidFill>
                  <a:srgbClr val="FFFFFF"/>
                </a:solidFill>
              </a:rPr>
              <a:t>From Data to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CE173-261A-80EA-A7FD-F33793BF9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328" y="4541697"/>
            <a:ext cx="3082986" cy="15434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>
                <a:solidFill>
                  <a:srgbClr val="FFFFFF"/>
                </a:solidFill>
              </a:rPr>
              <a:t>Splitting the Data: Train and Test</a:t>
            </a:r>
          </a:p>
        </p:txBody>
      </p:sp>
      <p:pic>
        <p:nvPicPr>
          <p:cNvPr id="4" name="Picture 3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9E2FF4AF-C61C-3C67-BD9F-B42DF00BA3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9" r="5384" b="-3"/>
          <a:stretch>
            <a:fillRect/>
          </a:stretch>
        </p:blipFill>
        <p:spPr>
          <a:xfrm>
            <a:off x="872064" y="857675"/>
            <a:ext cx="6045576" cy="514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120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06D2-57D6-DBE6-FF6D-CBBAC1B7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Battle of the Models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12A3FFC-1282-3751-9C2F-71838B5E4B8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34745122"/>
              </p:ext>
            </p:extLst>
          </p:nvPr>
        </p:nvGraphicFramePr>
        <p:xfrm>
          <a:off x="669324" y="1961291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7742B51-391C-0891-9163-D8C406AB61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4373523"/>
              </p:ext>
            </p:extLst>
          </p:nvPr>
        </p:nvGraphicFramePr>
        <p:xfrm>
          <a:off x="5625065" y="2075642"/>
          <a:ext cx="5993364" cy="3845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894">
                  <a:extLst>
                    <a:ext uri="{9D8B030D-6E8A-4147-A177-3AD203B41FA5}">
                      <a16:colId xmlns:a16="http://schemas.microsoft.com/office/drawing/2014/main" val="1007102745"/>
                    </a:ext>
                  </a:extLst>
                </a:gridCol>
                <a:gridCol w="998894">
                  <a:extLst>
                    <a:ext uri="{9D8B030D-6E8A-4147-A177-3AD203B41FA5}">
                      <a16:colId xmlns:a16="http://schemas.microsoft.com/office/drawing/2014/main" val="3506184841"/>
                    </a:ext>
                  </a:extLst>
                </a:gridCol>
                <a:gridCol w="998894">
                  <a:extLst>
                    <a:ext uri="{9D8B030D-6E8A-4147-A177-3AD203B41FA5}">
                      <a16:colId xmlns:a16="http://schemas.microsoft.com/office/drawing/2014/main" val="793954113"/>
                    </a:ext>
                  </a:extLst>
                </a:gridCol>
                <a:gridCol w="998894">
                  <a:extLst>
                    <a:ext uri="{9D8B030D-6E8A-4147-A177-3AD203B41FA5}">
                      <a16:colId xmlns:a16="http://schemas.microsoft.com/office/drawing/2014/main" val="930555133"/>
                    </a:ext>
                  </a:extLst>
                </a:gridCol>
                <a:gridCol w="998894">
                  <a:extLst>
                    <a:ext uri="{9D8B030D-6E8A-4147-A177-3AD203B41FA5}">
                      <a16:colId xmlns:a16="http://schemas.microsoft.com/office/drawing/2014/main" val="1025691970"/>
                    </a:ext>
                  </a:extLst>
                </a:gridCol>
                <a:gridCol w="998894">
                  <a:extLst>
                    <a:ext uri="{9D8B030D-6E8A-4147-A177-3AD203B41FA5}">
                      <a16:colId xmlns:a16="http://schemas.microsoft.com/office/drawing/2014/main" val="694175610"/>
                    </a:ext>
                  </a:extLst>
                </a:gridCol>
              </a:tblGrid>
              <a:tr h="584081">
                <a:tc>
                  <a:txBody>
                    <a:bodyPr/>
                    <a:lstStyle/>
                    <a:p>
                      <a:r>
                        <a:rPr lang="en-US" sz="120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kern="1200" noProof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Time taken</a:t>
                      </a:r>
                      <a:endParaRPr lang="en-US" sz="1200" b="1" kern="1200" err="1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010035"/>
                  </a:ext>
                </a:extLst>
              </a:tr>
              <a:tr h="71991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Logistic Regression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080346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Decision Tree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59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375792"/>
                  </a:ext>
                </a:extLst>
              </a:tr>
              <a:tr h="71991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Random Forest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380016"/>
                  </a:ext>
                </a:extLst>
              </a:tr>
              <a:tr h="58408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SGD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646935"/>
                  </a:ext>
                </a:extLst>
              </a:tr>
              <a:tr h="58408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/>
                        <a:t>3.42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309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8213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EA876-C6DF-A746-0FAD-F382BC6E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And the winner is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9B906-8427-F4DB-8957-87F55439C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Logistic Regression 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model achieved the highest recall identifying 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72% 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of churned customers. </a:t>
            </a: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Close behind, 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SGD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 performed similarly well, showing strong ability to detect churned customers with slightly lower recall 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70%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. 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Given that recall is our  priority, 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Logistic Regression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is the best-performing model, followed closely by </a:t>
            </a:r>
            <a:r>
              <a:rPr lang="en-US" b="1">
                <a:solidFill>
                  <a:schemeClr val="tx1"/>
                </a:solidFill>
                <a:ea typeface="+mn-lt"/>
                <a:cs typeface="+mn-lt"/>
              </a:rPr>
              <a:t>SGD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.  Decision Tree ()may be less suitable when missing churned customers is costly.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3919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4822-4796-7EFC-5F79-EA70A689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Fine Tuning using </a:t>
            </a:r>
            <a:br>
              <a:rPr lang="en-US"/>
            </a:br>
            <a:r>
              <a:rPr lang="en-US" err="1"/>
              <a:t>GridSearchCV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9745-BEB2-E3C0-A078-C436E7617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Logistic Regression: C, </a:t>
            </a:r>
            <a:r>
              <a:rPr lang="en-US" err="1"/>
              <a:t>max_iter</a:t>
            </a:r>
          </a:p>
          <a:p>
            <a:r>
              <a:rPr lang="en-US"/>
              <a:t>Decision Tree: criterion, </a:t>
            </a:r>
            <a:r>
              <a:rPr lang="en-US" err="1"/>
              <a:t>max_depth</a:t>
            </a:r>
            <a:endParaRPr lang="en-US"/>
          </a:p>
          <a:p>
            <a:r>
              <a:rPr lang="en-US"/>
              <a:t>Random Forest: criterion, </a:t>
            </a:r>
            <a:r>
              <a:rPr lang="en-US" err="1"/>
              <a:t>max_depth</a:t>
            </a:r>
            <a:r>
              <a:rPr lang="en-US"/>
              <a:t>, </a:t>
            </a:r>
            <a:r>
              <a:rPr lang="en-US" err="1"/>
              <a:t>n_estimators</a:t>
            </a:r>
            <a:endParaRPr lang="en-US"/>
          </a:p>
          <a:p>
            <a:r>
              <a:rPr lang="en-US"/>
              <a:t>SGD Classifier: alpha, </a:t>
            </a:r>
            <a:r>
              <a:rPr lang="en-US" err="1"/>
              <a:t>max_iter</a:t>
            </a:r>
            <a:r>
              <a:rPr lang="en-US"/>
              <a:t>, penalty</a:t>
            </a:r>
          </a:p>
          <a:p>
            <a:r>
              <a:rPr lang="en-US"/>
              <a:t>SVM: C, kernel</a:t>
            </a:r>
          </a:p>
        </p:txBody>
      </p:sp>
      <p:pic>
        <p:nvPicPr>
          <p:cNvPr id="4" name="Picture 3" descr="A diagram of a performance model&#10;&#10;AI-generated content may be incorrect.">
            <a:extLst>
              <a:ext uri="{FF2B5EF4-FFF2-40B4-BE49-F238E27FC236}">
                <a16:creationId xmlns:a16="http://schemas.microsoft.com/office/drawing/2014/main" id="{E0898841-521A-C2AF-771B-C7EEAFEF7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237" y="1281447"/>
            <a:ext cx="4654224" cy="5245995"/>
          </a:xfrm>
          <a:prstGeom prst="rect">
            <a:avLst/>
          </a:prstGeom>
        </p:spPr>
      </p:pic>
      <p:pic>
        <p:nvPicPr>
          <p:cNvPr id="6" name="Picture 5" descr="A screenshot of a grid search&#10;&#10;AI-generated content may be incorrect.">
            <a:extLst>
              <a:ext uri="{FF2B5EF4-FFF2-40B4-BE49-F238E27FC236}">
                <a16:creationId xmlns:a16="http://schemas.microsoft.com/office/drawing/2014/main" id="{CE6B6D83-B21C-2CA0-77C6-61AEF2BBE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079" y="4561987"/>
            <a:ext cx="1876600" cy="196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664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D503-2D80-DAC9-0BC0-F41AAFBE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Precision Through Simplicity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CC172-C2C8-E333-402A-533A7EC8B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Removing a non-impactful feature sharpened model focus by 1-3%</a:t>
            </a:r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E7B07A-4E58-1BF1-D6A3-12899191E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226663"/>
              </p:ext>
            </p:extLst>
          </p:nvPr>
        </p:nvGraphicFramePr>
        <p:xfrm>
          <a:off x="908881" y="2562861"/>
          <a:ext cx="9196533" cy="3491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8464">
                  <a:extLst>
                    <a:ext uri="{9D8B030D-6E8A-4147-A177-3AD203B41FA5}">
                      <a16:colId xmlns:a16="http://schemas.microsoft.com/office/drawing/2014/main" val="334544877"/>
                    </a:ext>
                  </a:extLst>
                </a:gridCol>
                <a:gridCol w="2799907">
                  <a:extLst>
                    <a:ext uri="{9D8B030D-6E8A-4147-A177-3AD203B41FA5}">
                      <a16:colId xmlns:a16="http://schemas.microsoft.com/office/drawing/2014/main" val="3206642477"/>
                    </a:ext>
                  </a:extLst>
                </a:gridCol>
                <a:gridCol w="2108162">
                  <a:extLst>
                    <a:ext uri="{9D8B030D-6E8A-4147-A177-3AD203B41FA5}">
                      <a16:colId xmlns:a16="http://schemas.microsoft.com/office/drawing/2014/main" val="1659272533"/>
                    </a:ext>
                  </a:extLst>
                </a:gridCol>
              </a:tblGrid>
              <a:tr h="716248">
                <a:tc>
                  <a:txBody>
                    <a:bodyPr/>
                    <a:lstStyle/>
                    <a:p>
                      <a:r>
                        <a:rPr lang="en-US" sz="3200">
                          <a:latin typeface="Corbel"/>
                        </a:rPr>
                        <a:t>Model/Recall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Corbel"/>
                        </a:rPr>
                        <a:t>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latin typeface="Corbel"/>
                        </a:rPr>
                        <a:t>Simplified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488513"/>
                  </a:ext>
                </a:extLst>
              </a:tr>
              <a:tr h="459133">
                <a:tc>
                  <a:txBody>
                    <a:bodyPr/>
                    <a:lstStyle/>
                    <a:p>
                      <a:r>
                        <a:rPr lang="en-US" sz="2400" b="1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73.4</a:t>
                      </a:r>
                      <a:r>
                        <a:rPr lang="en-US" sz="2400" b="1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72%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255149"/>
                  </a:ext>
                </a:extLst>
              </a:tr>
              <a:tr h="459133">
                <a:tc>
                  <a:txBody>
                    <a:bodyPr/>
                    <a:lstStyle/>
                    <a:p>
                      <a:r>
                        <a:rPr lang="en-US" sz="2400" b="1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67.8</a:t>
                      </a:r>
                      <a:r>
                        <a:rPr lang="en-US" sz="2400" b="1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171951"/>
                  </a:ext>
                </a:extLst>
              </a:tr>
              <a:tr h="459133">
                <a:tc>
                  <a:txBody>
                    <a:bodyPr/>
                    <a:lstStyle/>
                    <a:p>
                      <a:r>
                        <a:rPr lang="en-US" sz="2400" b="1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64</a:t>
                      </a:r>
                      <a:r>
                        <a:rPr lang="en-US" sz="2400" b="1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66%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797072"/>
                  </a:ext>
                </a:extLst>
              </a:tr>
              <a:tr h="459133">
                <a:tc>
                  <a:txBody>
                    <a:bodyPr/>
                    <a:lstStyle/>
                    <a:p>
                      <a:r>
                        <a:rPr lang="en-US" sz="2400" b="1"/>
                        <a:t>SGD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solidFill>
                            <a:srgbClr val="000000"/>
                          </a:solidFill>
                          <a:latin typeface="Corbel"/>
                        </a:rPr>
                        <a:t>73.50</a:t>
                      </a:r>
                      <a:r>
                        <a:rPr lang="en-US" sz="2400" b="1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487034"/>
                  </a:ext>
                </a:extLst>
              </a:tr>
              <a:tr h="459133">
                <a:tc>
                  <a:txBody>
                    <a:bodyPr/>
                    <a:lstStyle/>
                    <a:p>
                      <a:r>
                        <a:rPr lang="en-US" sz="2400" b="1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309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3639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F750-E498-73F4-F86D-433DD515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A6B727"/>
                </a:solidFill>
                <a:latin typeface="Corbel"/>
                <a:cs typeface="Arial"/>
              </a:rPr>
              <a:t>Improving Generalization &amp; Focus 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E49600-020A-DC7C-A6E7-E12D8F4A13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157054"/>
              </p:ext>
            </p:extLst>
          </p:nvPr>
        </p:nvGraphicFramePr>
        <p:xfrm>
          <a:off x="1282095" y="1995714"/>
          <a:ext cx="9148410" cy="4177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1808">
                  <a:extLst>
                    <a:ext uri="{9D8B030D-6E8A-4147-A177-3AD203B41FA5}">
                      <a16:colId xmlns:a16="http://schemas.microsoft.com/office/drawing/2014/main" val="2419136531"/>
                    </a:ext>
                  </a:extLst>
                </a:gridCol>
                <a:gridCol w="1898951">
                  <a:extLst>
                    <a:ext uri="{9D8B030D-6E8A-4147-A177-3AD203B41FA5}">
                      <a16:colId xmlns:a16="http://schemas.microsoft.com/office/drawing/2014/main" val="2571757629"/>
                    </a:ext>
                  </a:extLst>
                </a:gridCol>
                <a:gridCol w="1729619">
                  <a:extLst>
                    <a:ext uri="{9D8B030D-6E8A-4147-A177-3AD203B41FA5}">
                      <a16:colId xmlns:a16="http://schemas.microsoft.com/office/drawing/2014/main" val="3909102693"/>
                    </a:ext>
                  </a:extLst>
                </a:gridCol>
                <a:gridCol w="1988032">
                  <a:extLst>
                    <a:ext uri="{9D8B030D-6E8A-4147-A177-3AD203B41FA5}">
                      <a16:colId xmlns:a16="http://schemas.microsoft.com/office/drawing/2014/main" val="1423712954"/>
                    </a:ext>
                  </a:extLst>
                </a:gridCol>
              </a:tblGrid>
              <a:tr h="794513">
                <a:tc>
                  <a:txBody>
                    <a:bodyPr/>
                    <a:lstStyle/>
                    <a:p>
                      <a:r>
                        <a:rPr lang="en-US" sz="3200"/>
                        <a:t>Model/Recall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Initial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Simplified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67987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Corbel"/>
                        </a:rPr>
                        <a:t>Logistic Regression </a:t>
                      </a:r>
                      <a:endParaRPr lang="en-US" sz="3200" b="1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73.4%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72%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116094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Corbel"/>
                        </a:rPr>
                        <a:t>Decision Tree </a:t>
                      </a:r>
                      <a:endParaRPr lang="en-US" sz="3200" b="1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59%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67.8%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65%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893297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Corbel"/>
                        </a:rPr>
                        <a:t>Random Forest </a:t>
                      </a:r>
                      <a:endParaRPr lang="en-US" sz="3200" b="1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64%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68.2%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66%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886392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Corbel"/>
                        </a:rPr>
                        <a:t>SGD Classifier </a:t>
                      </a:r>
                      <a:endParaRPr lang="en-US" sz="3200" b="1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70%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73.5%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71%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138945"/>
                  </a:ext>
                </a:extLst>
              </a:tr>
              <a:tr h="5131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1" i="0" u="none" strike="noStrike" noProof="0">
                          <a:latin typeface="Corbel"/>
                        </a:rPr>
                        <a:t>SVM </a:t>
                      </a:r>
                      <a:endParaRPr lang="en-US" sz="3200" b="1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65%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72%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3200" b="0" i="0" u="none" strike="noStrike" noProof="0">
                          <a:latin typeface="Corbel"/>
                        </a:rPr>
                        <a:t>70%</a:t>
                      </a:r>
                      <a:endParaRPr lang="en-US" sz="3200">
                        <a:latin typeface="Corbe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736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5404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2B1F9-05D7-1A18-1607-198B8CB7B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CFA3-F2D5-9857-1704-66176A0722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8316"/>
            <a:ext cx="9144000" cy="2413213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Can We Predict Who Will Leave?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363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Basis</vt:lpstr>
      <vt:lpstr>Can We Predict Who Will Leave?</vt:lpstr>
      <vt:lpstr>PowerPoint Presentation</vt:lpstr>
      <vt:lpstr>Preliminary Data Insight</vt:lpstr>
      <vt:lpstr>Exploring Feature Relationships </vt:lpstr>
      <vt:lpstr>Preparing the Data</vt:lpstr>
      <vt:lpstr>From Data to Predictions</vt:lpstr>
      <vt:lpstr>Battle of the Models</vt:lpstr>
      <vt:lpstr>And the winner is ...</vt:lpstr>
      <vt:lpstr>Fine Tuning using  GridSearchCV</vt:lpstr>
      <vt:lpstr>Precision Through Simplicity</vt:lpstr>
      <vt:lpstr>Improving Generalization &amp; Focus </vt:lpstr>
      <vt:lpstr>Can We Predict Who Will Leave?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2026-01-21T14:00:48Z</dcterms:created>
  <dcterms:modified xsi:type="dcterms:W3CDTF">2026-02-03T22:50:08Z</dcterms:modified>
</cp:coreProperties>
</file>