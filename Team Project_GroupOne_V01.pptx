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A5353C1-411F-12BD-05E0-2E901DFA98B3}" v="558" dt="2026-01-27T21:35:02.22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711643"/>
            <a:ext cx="9144000" cy="2387600"/>
          </a:xfrm>
        </p:spPr>
        <p:txBody>
          <a:bodyPr/>
          <a:lstStyle/>
          <a:p>
            <a:r>
              <a:rPr lang="en-US" dirty="0">
                <a:ea typeface="+mj-lt"/>
                <a:cs typeface="+mj-lt"/>
              </a:rPr>
              <a:t>Can We Predict Who Will Leave?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6FCCD-1677-FE70-6EDB-6882149E6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Telco Customer Churn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F9481C-8C9F-46C6-FC74-E9F104B057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A814F0D-D0D1-32E3-4405-5AD55DB195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550" y="1443996"/>
            <a:ext cx="9486900" cy="445218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9E69C87-2D7D-A621-07A7-9D874A8E2936}"/>
              </a:ext>
            </a:extLst>
          </p:cNvPr>
          <p:cNvSpPr txBox="1"/>
          <p:nvPr/>
        </p:nvSpPr>
        <p:spPr>
          <a:xfrm>
            <a:off x="2864556" y="6180666"/>
            <a:ext cx="646288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** Every Prediction Starts with the Data We Understand **</a:t>
            </a:r>
          </a:p>
        </p:txBody>
      </p:sp>
    </p:spTree>
    <p:extLst>
      <p:ext uri="{BB962C8B-B14F-4D97-AF65-F5344CB8AC3E}">
        <p14:creationId xmlns:p14="http://schemas.microsoft.com/office/powerpoint/2010/main" val="32295332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C7F6A-CE7A-AFC2-330F-D4D1111FB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Features of the 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6695DC-1CF7-B687-C0CC-DC5A8699BD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Total Rows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Total Columns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Types of Features (numerical vs categorical)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Key Features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The Target (Churn)</a:t>
            </a:r>
          </a:p>
        </p:txBody>
      </p:sp>
    </p:spTree>
    <p:extLst>
      <p:ext uri="{BB962C8B-B14F-4D97-AF65-F5344CB8AC3E}">
        <p14:creationId xmlns:p14="http://schemas.microsoft.com/office/powerpoint/2010/main" val="34784268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EC9AB-A498-82E5-783D-57698BF33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Preparing the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DDF9C8-E31E-F763-C1CB-5003C763A7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Checking for Missing Value</a:t>
            </a:r>
          </a:p>
          <a:p>
            <a:r>
              <a:rPr lang="en-US" dirty="0"/>
              <a:t>Dealing with Duplicates</a:t>
            </a:r>
          </a:p>
          <a:p>
            <a:r>
              <a:rPr lang="en-US" dirty="0"/>
              <a:t>Converting Categorical Features into Numerical ones</a:t>
            </a:r>
          </a:p>
          <a:p>
            <a:r>
              <a:rPr lang="en-US" dirty="0"/>
              <a:t>Detecting outliers 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06533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44B58-C307-6C5B-BBBE-D4A0CA3D3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Exploring Feature Relationships 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6240BB-6493-6CB6-E904-75B529614D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Churn Distribution</a:t>
            </a:r>
          </a:p>
          <a:p>
            <a:r>
              <a:rPr lang="en-US" dirty="0"/>
              <a:t>Tenure vs Churn</a:t>
            </a:r>
          </a:p>
          <a:p>
            <a:r>
              <a:rPr lang="en-US" dirty="0"/>
              <a:t>Monthly Charges vs Churn</a:t>
            </a:r>
          </a:p>
          <a:p>
            <a:r>
              <a:rPr lang="en-US" dirty="0"/>
              <a:t>Contract Type vs Churn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95652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E53009-0F03-BF09-74A8-F6527566E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From Data to Predictions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7CE173-261A-80EA-A7FD-F33793BF92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Splitting the Data: Train and Test</a:t>
            </a:r>
          </a:p>
        </p:txBody>
      </p:sp>
    </p:spTree>
    <p:extLst>
      <p:ext uri="{BB962C8B-B14F-4D97-AF65-F5344CB8AC3E}">
        <p14:creationId xmlns:p14="http://schemas.microsoft.com/office/powerpoint/2010/main" val="7460120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AB06D2-57D6-DBE6-FF6D-CBBAC1B7E0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Battle of the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850798-02B1-6248-BB94-D0ED64F8CB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7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Which one Predicts Best:</a:t>
            </a:r>
          </a:p>
          <a:p>
            <a:r>
              <a:rPr lang="en-US" sz="2200" dirty="0">
                <a:highlight>
                  <a:srgbClr val="FFFFFF"/>
                </a:highlight>
              </a:rPr>
              <a:t>Logistic Regression</a:t>
            </a:r>
            <a:endParaRPr lang="en-US" dirty="0"/>
          </a:p>
          <a:p>
            <a:r>
              <a:rPr lang="en-US" sz="2200" dirty="0">
                <a:highlight>
                  <a:srgbClr val="FFFFFF"/>
                </a:highlight>
              </a:rPr>
              <a:t>Decision Tree</a:t>
            </a:r>
            <a:endParaRPr lang="en-US" dirty="0"/>
          </a:p>
          <a:p>
            <a:r>
              <a:rPr lang="en-US" sz="2200" dirty="0">
                <a:highlight>
                  <a:srgbClr val="FFFFFF"/>
                </a:highlight>
                <a:ea typeface="+mn-lt"/>
                <a:cs typeface="+mn-lt"/>
              </a:rPr>
              <a:t>Random Forest</a:t>
            </a:r>
            <a:endParaRPr lang="en-US" dirty="0">
              <a:ea typeface="+mn-lt"/>
              <a:cs typeface="+mn-lt"/>
            </a:endParaRPr>
          </a:p>
          <a:p>
            <a:r>
              <a:rPr lang="en-US" sz="2200" dirty="0">
                <a:highlight>
                  <a:srgbClr val="FFFFFF"/>
                </a:highlight>
                <a:ea typeface="+mn-lt"/>
                <a:cs typeface="+mn-lt"/>
              </a:rPr>
              <a:t>Stochastic Gradient Descent </a:t>
            </a:r>
          </a:p>
          <a:p>
            <a:r>
              <a:rPr lang="en-US" sz="2200" dirty="0">
                <a:highlight>
                  <a:srgbClr val="FFFFFF"/>
                </a:highlight>
                <a:ea typeface="+mn-lt"/>
                <a:cs typeface="+mn-lt"/>
              </a:rPr>
              <a:t>Support Vector Machine</a:t>
            </a:r>
          </a:p>
          <a:p>
            <a:pPr marL="0" indent="0">
              <a:buNone/>
            </a:pPr>
            <a:endParaRPr lang="en-US" dirty="0">
              <a:ea typeface="+mn-lt"/>
              <a:cs typeface="+mn-lt"/>
            </a:endParaRP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8213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EA876-C6DF-A746-0FAD-F382BC6E8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And the winner is ...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59B906-8427-F4DB-8957-87F55439C5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Stochastic Gradient Descent model wins, identifying 96% of churned customers. </a:t>
            </a:r>
          </a:p>
          <a:p>
            <a:r>
              <a:rPr lang="en-US" dirty="0">
                <a:ea typeface="+mn-lt"/>
                <a:cs typeface="+mn-lt"/>
              </a:rPr>
              <a:t>Close behind: SVM at 94% and Random Forest at 93%. </a:t>
            </a:r>
            <a:endParaRPr lang="en-US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Since recall matters most, we recommend SGD or SVM, both top performers!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43919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64822-4796-7EFC-5F79-EA70A68901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Fine Tunning the Models 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979745-BEB2-E3C0-A078-C436E76174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A4CAA89-7F2D-6253-66AF-E906CC838382}"/>
              </a:ext>
            </a:extLst>
          </p:cNvPr>
          <p:cNvSpPr txBox="1">
            <a:spLocks/>
          </p:cNvSpPr>
          <p:nvPr/>
        </p:nvSpPr>
        <p:spPr>
          <a:xfrm>
            <a:off x="838200" y="1690687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Optimizing Parameters, </a:t>
            </a:r>
            <a:r>
              <a:rPr lang="en-US" dirty="0" err="1"/>
              <a:t>GridSearchCV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The Impact of Tunning</a:t>
            </a:r>
          </a:p>
          <a:p>
            <a:r>
              <a:rPr lang="en-US" dirty="0">
                <a:ea typeface="+mn-lt"/>
                <a:cs typeface="+mn-lt"/>
              </a:rPr>
              <a:t>Initial recalls were overfitted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Logistic Regression dropped from 91% to a realistic 53%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Decision Tree settled at 67% after tuning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Tuning provided more realistic performance measures</a:t>
            </a:r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1664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CF750-E498-73F4-F86D-433DD515D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Impact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DB08CF-8216-80FC-5727-97E2A10733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Removing </a:t>
            </a:r>
            <a:r>
              <a:rPr lang="en-US" err="1"/>
              <a:t>Payment_Method</a:t>
            </a:r>
            <a:r>
              <a:rPr lang="en-US"/>
              <a:t> </a:t>
            </a:r>
            <a:r>
              <a:rPr lang="en-US">
                <a:ea typeface="+mn-lt"/>
                <a:cs typeface="+mn-lt"/>
              </a:rPr>
              <a:t>improved recall by 1-3%</a:t>
            </a:r>
          </a:p>
          <a:p>
            <a:r>
              <a:rPr lang="en-US" dirty="0">
                <a:ea typeface="+mn-lt"/>
                <a:cs typeface="+mn-lt"/>
              </a:rPr>
              <a:t>Simplification helped models focus on stronger predictors</a:t>
            </a:r>
          </a:p>
          <a:p>
            <a:r>
              <a:rPr lang="en-US" dirty="0"/>
              <a:t>More Streamlined and </a:t>
            </a:r>
            <a:r>
              <a:rPr lang="en-US" dirty="0" err="1"/>
              <a:t>Generalizeable</a:t>
            </a:r>
            <a:r>
              <a:rPr lang="en-US" dirty="0"/>
              <a:t> Models </a:t>
            </a:r>
          </a:p>
        </p:txBody>
      </p:sp>
    </p:spTree>
    <p:extLst>
      <p:ext uri="{BB962C8B-B14F-4D97-AF65-F5344CB8AC3E}">
        <p14:creationId xmlns:p14="http://schemas.microsoft.com/office/powerpoint/2010/main" val="18505404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BD503-2D80-DAC9-0BC0-F41AAFBE0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Precision Through Simplicity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0CC172-C2C8-E333-402A-533A7EC8BB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Removing non-impactful features sharpened model focus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Simpler models delivered better recall with fewer distractions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Streamlined features, stronger results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63639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B9941-8ECB-BFAB-ED7C-F522ECA755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867083"/>
          </a:xfrm>
        </p:spPr>
        <p:txBody>
          <a:bodyPr>
            <a:normAutofit/>
          </a:bodyPr>
          <a:lstStyle/>
          <a:p>
            <a:r>
              <a:rPr lang="en-US" dirty="0">
                <a:ea typeface="+mj-lt"/>
                <a:cs typeface="+mj-lt"/>
              </a:rPr>
              <a:t>If one change had impact, imagine what simplifying everything could do for your organization.</a:t>
            </a:r>
          </a:p>
        </p:txBody>
      </p:sp>
    </p:spTree>
    <p:extLst>
      <p:ext uri="{BB962C8B-B14F-4D97-AF65-F5344CB8AC3E}">
        <p14:creationId xmlns:p14="http://schemas.microsoft.com/office/powerpoint/2010/main" val="41097947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Can We Predict Who Will Leave?</vt:lpstr>
      <vt:lpstr>Telco Customer Churn</vt:lpstr>
      <vt:lpstr>Key Features of the Dataset</vt:lpstr>
      <vt:lpstr>Preparing the Data</vt:lpstr>
      <vt:lpstr>Exploring Feature Relationships </vt:lpstr>
      <vt:lpstr>From Data to Predictions</vt:lpstr>
      <vt:lpstr>Battle of the Models</vt:lpstr>
      <vt:lpstr>And the winner is ...</vt:lpstr>
      <vt:lpstr>Fine Tunning the Models </vt:lpstr>
      <vt:lpstr>Feature Impact</vt:lpstr>
      <vt:lpstr>Precision Through Simplicity</vt:lpstr>
      <vt:lpstr>If one change had impact, imagine what simplifying everything could do for your organization.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193</cp:revision>
  <dcterms:created xsi:type="dcterms:W3CDTF">2026-01-21T14:00:48Z</dcterms:created>
  <dcterms:modified xsi:type="dcterms:W3CDTF">2026-01-27T21:35:32Z</dcterms:modified>
</cp:coreProperties>
</file>